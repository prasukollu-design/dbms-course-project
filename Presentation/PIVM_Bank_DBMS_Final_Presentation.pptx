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57D6B22-1E30-B874-1983-10492690BEB8}">
          <p14:sldIdLst>
            <p14:sldId id="256"/>
          </p14:sldIdLst>
        </p14:section>
        <p14:section name="Problem Description" id="{8B3F454A-B11D-0DB0-61C9-D60CD90EE57E}">
          <p14:sldIdLst>
            <p14:sldId id="257"/>
          </p14:sldIdLst>
        </p14:section>
        <p14:section name="ER Diagram and Schema" id="{E16E354B-3FEE-0F79-FF8C-1DA76458D39D}">
          <p14:sldIdLst>
            <p14:sldId id="258"/>
            <p14:sldId id="259"/>
          </p14:sldIdLst>
        </p14:section>
        <p14:section name="Database and Queries" id="{0BF954CF-90EC-B4D1-F75C-9075CB41BBFD}">
          <p14:sldIdLst>
            <p14:sldId id="260"/>
            <p14:sldId id="261"/>
          </p14:sldIdLst>
        </p14:section>
        <p14:section name="User Interface Demo" id="{A4304F60-6403-F641-3B73-51F78E453165}">
          <p14:sldIdLst>
            <p14:sldId id="262"/>
          </p14:sldIdLst>
        </p14:section>
        <p14:section name="Questions" id="{0D290107-D1DA-B7A1-DA2C-9700E1B21064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73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the team. About 15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Title, problem statement, objectives, scope and intended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Two entities with a 1:N relationship (Performs). Underlined attributes are primary keys; account_no in Transactions is the foreign key. related_account holds the counterparty account for transfers.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Show the relational schema with PK/FK, then justify 1NF, 2NF and 3NF. Each customer holds one account in this system, so customer details live with the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Run CREATE DATABASE / CREATE TABLE live from the .sql file, then INSERT at least 5 rows into each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 minute. Run each query live. Mention the LEFT JOIN keeps deposits and withdrawals that have no counterparty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 minutes. For each change, show the UI screen, perform the action, then refresh phpMyAdmin to show the database change (before and after).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2 minutes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4800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PIVM Bank  |  DBMS Project 55  |  Group 3  |  CSE Rhinos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5029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4"/>
                </a:solidFill>
              </a:rPr>
              <a:t>DBMS COURSE PROJECT  |  PRESENTATION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Bank Account and Transaction Management System</a:t>
            </a:r>
            <a:endParaRPr lang="en-US" sz="3800" dirty="0"/>
          </a:p>
        </p:txBody>
      </p:sp>
      <p:sp>
        <p:nvSpPr>
          <p:cNvPr id="4" name="Product name"/>
          <p:cNvSpPr txBox="1"/>
          <p:nvPr/>
        </p:nvSpPr>
        <p:spPr>
          <a:xfrm>
            <a:off x="548640" y="2331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PIVM Bank</a:t>
            </a:r>
            <a:endParaRPr lang="en-US" sz="2400" dirty="0"/>
          </a:p>
        </p:txBody>
      </p:sp>
      <p:sp>
        <p:nvSpPr>
          <p:cNvPr id="5" name="Project line"/>
          <p:cNvSpPr txBox="1"/>
          <p:nvPr/>
        </p:nvSpPr>
        <p:spPr>
          <a:xfrm>
            <a:off x="548640" y="2788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Project 55  |  Group 3  |  Class: CSE Rhinos</a:t>
            </a:r>
            <a:endParaRPr lang="en-US" sz="1600" dirty="0"/>
          </a:p>
        </p:txBody>
      </p:sp>
      <p:sp>
        <p:nvSpPr>
          <p:cNvPr id="6" name="Bank circle"/>
          <p:cNvSpPr/>
          <p:nvPr/>
        </p:nvSpPr>
        <p:spPr>
          <a:xfrm>
            <a:off x="7635240" y="5029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Bank icon" descr="Ba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731520"/>
            <a:ext cx="457200" cy="457200"/>
          </a:xfrm>
          <a:prstGeom prst="rect">
            <a:avLst/>
          </a:prstGeom>
        </p:spPr>
      </p:pic>
      <p:sp>
        <p:nvSpPr>
          <p:cNvPr id="8" name="Member card 1"/>
          <p:cNvSpPr/>
          <p:nvPr/>
        </p:nvSpPr>
        <p:spPr>
          <a:xfrm>
            <a:off x="548640" y="352044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" name="Member name 1"/>
          <p:cNvSpPr txBox="1"/>
          <p:nvPr/>
        </p:nvSpPr>
        <p:spPr>
          <a:xfrm>
            <a:off x="685800" y="3630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Prasanna Kollu</a:t>
            </a:r>
            <a:endParaRPr lang="en-US" sz="1400" dirty="0"/>
          </a:p>
        </p:txBody>
      </p:sp>
      <p:sp>
        <p:nvSpPr>
          <p:cNvPr id="10" name="Member id 1"/>
          <p:cNvSpPr txBox="1"/>
          <p:nvPr/>
        </p:nvSpPr>
        <p:spPr>
          <a:xfrm>
            <a:off x="685800" y="4160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25WU0101101</a:t>
            </a:r>
            <a:endParaRPr lang="en-US" sz="1100" dirty="0"/>
          </a:p>
        </p:txBody>
      </p:sp>
      <p:sp>
        <p:nvSpPr>
          <p:cNvPr id="11" name="Member card 2"/>
          <p:cNvSpPr/>
          <p:nvPr/>
        </p:nvSpPr>
        <p:spPr>
          <a:xfrm>
            <a:off x="2606040" y="352044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2" name="Member name 2"/>
          <p:cNvSpPr txBox="1"/>
          <p:nvPr/>
        </p:nvSpPr>
        <p:spPr>
          <a:xfrm>
            <a:off x="2743200" y="3630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Pareddy Ishanth Reddy</a:t>
            </a:r>
            <a:endParaRPr lang="en-US" sz="1400" dirty="0"/>
          </a:p>
        </p:txBody>
      </p:sp>
      <p:sp>
        <p:nvSpPr>
          <p:cNvPr id="13" name="Member id 2"/>
          <p:cNvSpPr txBox="1"/>
          <p:nvPr/>
        </p:nvSpPr>
        <p:spPr>
          <a:xfrm>
            <a:off x="2743200" y="4160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25WU0101093</a:t>
            </a:r>
            <a:endParaRPr lang="en-US" sz="1100" dirty="0"/>
          </a:p>
        </p:txBody>
      </p:sp>
      <p:sp>
        <p:nvSpPr>
          <p:cNvPr id="14" name="Member card 3"/>
          <p:cNvSpPr/>
          <p:nvPr/>
        </p:nvSpPr>
        <p:spPr>
          <a:xfrm>
            <a:off x="4663440" y="352044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5" name="Member name 3"/>
          <p:cNvSpPr txBox="1"/>
          <p:nvPr/>
        </p:nvSpPr>
        <p:spPr>
          <a:xfrm>
            <a:off x="4800600" y="3630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Mitul Saraswat</a:t>
            </a:r>
            <a:endParaRPr lang="en-US" sz="1400" dirty="0"/>
          </a:p>
        </p:txBody>
      </p:sp>
      <p:sp>
        <p:nvSpPr>
          <p:cNvPr id="16" name="Member id 3"/>
          <p:cNvSpPr txBox="1"/>
          <p:nvPr/>
        </p:nvSpPr>
        <p:spPr>
          <a:xfrm>
            <a:off x="4800600" y="4160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25WU0101073</a:t>
            </a:r>
            <a:endParaRPr lang="en-US" sz="1100" dirty="0"/>
          </a:p>
        </p:txBody>
      </p:sp>
      <p:sp>
        <p:nvSpPr>
          <p:cNvPr id="17" name="Member card 4"/>
          <p:cNvSpPr/>
          <p:nvPr/>
        </p:nvSpPr>
        <p:spPr>
          <a:xfrm>
            <a:off x="6720840" y="3520440"/>
            <a:ext cx="18745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8" name="Member name 4"/>
          <p:cNvSpPr txBox="1"/>
          <p:nvPr/>
        </p:nvSpPr>
        <p:spPr>
          <a:xfrm>
            <a:off x="6858000" y="3630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Vishnu Mirapa</a:t>
            </a:r>
            <a:endParaRPr lang="en-US" sz="1400" dirty="0"/>
          </a:p>
        </p:txBody>
      </p:sp>
      <p:sp>
        <p:nvSpPr>
          <p:cNvPr id="19" name="Member id 4"/>
          <p:cNvSpPr txBox="1"/>
          <p:nvPr/>
        </p:nvSpPr>
        <p:spPr>
          <a:xfrm>
            <a:off x="6858000" y="41605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25WU0101071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Description</a:t>
            </a:r>
            <a:endParaRPr lang="en-US" sz="34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188720"/>
            <a:ext cx="365760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oblem label"/>
          <p:cNvSpPr txBox="1"/>
          <p:nvPr/>
        </p:nvSpPr>
        <p:spPr>
          <a:xfrm>
            <a:off x="777240" y="13533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PROBLEM STATEMENT</a:t>
            </a:r>
            <a:endParaRPr lang="en-US" sz="1100" dirty="0"/>
          </a:p>
        </p:txBody>
      </p:sp>
      <p:sp>
        <p:nvSpPr>
          <p:cNvPr id="5" name="Problem text"/>
          <p:cNvSpPr txBox="1"/>
          <p:nvPr/>
        </p:nvSpPr>
        <p:spPr>
          <a:xfrm>
            <a:off x="777240" y="1664208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Manual banking records are error-prone, slow to approve and hard to audit. Customers need one reliable system to open accounts, move money and see exactly what happened.</a:t>
            </a:r>
            <a:endParaRPr lang="en-US" sz="1400" dirty="0"/>
          </a:p>
        </p:txBody>
      </p:sp>
      <p:sp>
        <p:nvSpPr>
          <p:cNvPr id="6" name="Users label"/>
          <p:cNvSpPr txBox="1"/>
          <p:nvPr/>
        </p:nvSpPr>
        <p:spPr>
          <a:xfrm>
            <a:off x="77724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INTENDED USERS</a:t>
            </a:r>
            <a:endParaRPr lang="en-US" sz="1100" dirty="0"/>
          </a:p>
        </p:txBody>
      </p:sp>
      <p:sp>
        <p:nvSpPr>
          <p:cNvPr id="7" name="User pill 1"/>
          <p:cNvSpPr/>
          <p:nvPr/>
        </p:nvSpPr>
        <p:spPr>
          <a:xfrm>
            <a:off x="777240" y="3337560"/>
            <a:ext cx="1143000" cy="329184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User pill 1 text"/>
          <p:cNvSpPr txBox="1"/>
          <p:nvPr/>
        </p:nvSpPr>
        <p:spPr>
          <a:xfrm>
            <a:off x="777240" y="33375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Customers</a:t>
            </a:r>
            <a:endParaRPr lang="en-US" sz="1200" dirty="0"/>
          </a:p>
        </p:txBody>
      </p:sp>
      <p:sp>
        <p:nvSpPr>
          <p:cNvPr id="9" name="User pill 2"/>
          <p:cNvSpPr/>
          <p:nvPr/>
        </p:nvSpPr>
        <p:spPr>
          <a:xfrm>
            <a:off x="2011680" y="3337560"/>
            <a:ext cx="1783080" cy="329184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User pill 2 text"/>
          <p:cNvSpPr txBox="1"/>
          <p:nvPr/>
        </p:nvSpPr>
        <p:spPr>
          <a:xfrm>
            <a:off x="2011680" y="33375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Bank administrators</a:t>
            </a:r>
            <a:endParaRPr lang="en-US" sz="1200" dirty="0"/>
          </a:p>
        </p:txBody>
      </p:sp>
      <p:sp>
        <p:nvSpPr>
          <p:cNvPr id="11" name="Objectives label"/>
          <p:cNvSpPr txBox="1"/>
          <p:nvPr/>
        </p:nvSpPr>
        <p:spPr>
          <a:xfrm>
            <a:off x="448056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2"/>
                </a:solidFill>
              </a:rPr>
              <a:t>OBJECTIVES</a:t>
            </a:r>
            <a:endParaRPr lang="en-US" sz="1100" dirty="0"/>
          </a:p>
        </p:txBody>
      </p:sp>
      <p:sp>
        <p:nvSpPr>
          <p:cNvPr id="12" name="Objective 1 circle"/>
          <p:cNvSpPr/>
          <p:nvPr/>
        </p:nvSpPr>
        <p:spPr>
          <a:xfrm>
            <a:off x="4480560" y="15087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Objective 1 icon" descr="Objectiv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5716" y="1613916"/>
            <a:ext cx="210312" cy="210312"/>
          </a:xfrm>
          <a:prstGeom prst="rect">
            <a:avLst/>
          </a:prstGeom>
        </p:spPr>
      </p:pic>
      <p:sp>
        <p:nvSpPr>
          <p:cNvPr id="14" name="Objective text 1"/>
          <p:cNvSpPr txBox="1"/>
          <p:nvPr/>
        </p:nvSpPr>
        <p:spPr>
          <a:xfrm>
            <a:off x="5047488" y="150876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Digitise account opening with admin approval</a:t>
            </a:r>
            <a:endParaRPr lang="en-US" sz="1400" dirty="0"/>
          </a:p>
        </p:txBody>
      </p:sp>
      <p:sp>
        <p:nvSpPr>
          <p:cNvPr id="15" name="Objective 2 circle"/>
          <p:cNvSpPr/>
          <p:nvPr/>
        </p:nvSpPr>
        <p:spPr>
          <a:xfrm>
            <a:off x="4480560" y="207568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Objective 2 icon" descr="Objectiv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5716" y="2180844"/>
            <a:ext cx="210312" cy="210312"/>
          </a:xfrm>
          <a:prstGeom prst="rect">
            <a:avLst/>
          </a:prstGeom>
        </p:spPr>
      </p:pic>
      <p:sp>
        <p:nvSpPr>
          <p:cNvPr id="17" name="Objective text 2"/>
          <p:cNvSpPr txBox="1"/>
          <p:nvPr/>
        </p:nvSpPr>
        <p:spPr>
          <a:xfrm>
            <a:off x="5047488" y="20756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Record every deposit, withdrawal and transfer</a:t>
            </a:r>
            <a:endParaRPr lang="en-US" sz="1400" dirty="0"/>
          </a:p>
        </p:txBody>
      </p:sp>
      <p:sp>
        <p:nvSpPr>
          <p:cNvPr id="18" name="Objective 3 circle"/>
          <p:cNvSpPr/>
          <p:nvPr/>
        </p:nvSpPr>
        <p:spPr>
          <a:xfrm>
            <a:off x="4480560" y="264261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Objective 3 icon" descr="Objectiv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5716" y="2747772"/>
            <a:ext cx="210312" cy="210312"/>
          </a:xfrm>
          <a:prstGeom prst="rect">
            <a:avLst/>
          </a:prstGeom>
        </p:spPr>
      </p:pic>
      <p:sp>
        <p:nvSpPr>
          <p:cNvPr id="20" name="Objective text 3"/>
          <p:cNvSpPr txBox="1"/>
          <p:nvPr/>
        </p:nvSpPr>
        <p:spPr>
          <a:xfrm>
            <a:off x="5047488" y="264261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Guarantee consistency with atomic transactions</a:t>
            </a:r>
            <a:endParaRPr lang="en-US" sz="1400" dirty="0"/>
          </a:p>
        </p:txBody>
      </p:sp>
      <p:sp>
        <p:nvSpPr>
          <p:cNvPr id="21" name="Objective 4 circle"/>
          <p:cNvSpPr/>
          <p:nvPr/>
        </p:nvSpPr>
        <p:spPr>
          <a:xfrm>
            <a:off x="4480560" y="320954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Objective 4 icon" descr="Objectiv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716" y="3314700"/>
            <a:ext cx="210312" cy="210312"/>
          </a:xfrm>
          <a:prstGeom prst="rect">
            <a:avLst/>
          </a:prstGeom>
        </p:spPr>
      </p:pic>
      <p:sp>
        <p:nvSpPr>
          <p:cNvPr id="23" name="Objective text 4"/>
          <p:cNvSpPr txBox="1"/>
          <p:nvPr/>
        </p:nvSpPr>
        <p:spPr>
          <a:xfrm>
            <a:off x="5047488" y="320954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Secure role-based login and PIN authorisation</a:t>
            </a:r>
            <a:endParaRPr lang="en-US" sz="1400" dirty="0"/>
          </a:p>
        </p:txBody>
      </p:sp>
      <p:sp>
        <p:nvSpPr>
          <p:cNvPr id="24" name="Scope strip"/>
          <p:cNvSpPr/>
          <p:nvPr/>
        </p:nvSpPr>
        <p:spPr>
          <a:xfrm>
            <a:off x="548640" y="3977640"/>
            <a:ext cx="80467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5" name="Scope text"/>
          <p:cNvSpPr txBox="1"/>
          <p:nvPr/>
        </p:nvSpPr>
        <p:spPr>
          <a:xfrm>
            <a:off x="777240" y="39776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In scope: </a:t>
            </a:r>
            <a:r>
              <a:rPr lang="en-US" sz="1300" dirty="0">
                <a:solidFill>
                  <a:schemeClr val="bg1"/>
                </a:solidFill>
              </a:rPr>
              <a:t>accounts, deposits, withdrawals, username transfers, statements, admin approvals.   </a:t>
            </a:r>
          </a:p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Out of scope: </a:t>
            </a:r>
            <a:r>
              <a:rPr lang="en-US" sz="1300" dirty="0">
                <a:solidFill>
                  <a:schemeClr val="bg1"/>
                </a:solidFill>
              </a:rPr>
              <a:t>loans, cards, interest, other banks.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ER Diagram</a:t>
            </a:r>
            <a:endParaRPr lang="en-US" sz="3400" dirty="0"/>
          </a:p>
        </p:txBody>
      </p:sp>
      <p:sp>
        <p:nvSpPr>
          <p:cNvPr id="3" name="ER image card"/>
          <p:cNvSpPr/>
          <p:nvPr/>
        </p:nvSpPr>
        <p:spPr>
          <a:xfrm>
            <a:off x="548640" y="1143000"/>
            <a:ext cx="5760720" cy="3520440"/>
          </a:xfrm>
          <a:prstGeom prst="roundRect">
            <a:avLst>
              <a:gd name="adj" fmla="val 20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pic>
        <p:nvPicPr>
          <p:cNvPr id="4" name="ER diagram image" descr="ER diagram: Accounts performs Transactions, 1 to N, with all attribu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88720"/>
            <a:ext cx="5577840" cy="3374136"/>
          </a:xfrm>
          <a:prstGeom prst="rect">
            <a:avLst/>
          </a:prstGeom>
        </p:spPr>
      </p:pic>
      <p:sp>
        <p:nvSpPr>
          <p:cNvPr id="5" name="ER point 1"/>
          <p:cNvSpPr/>
          <p:nvPr/>
        </p:nvSpPr>
        <p:spPr>
          <a:xfrm>
            <a:off x="6492240" y="114300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ER point title 1"/>
          <p:cNvSpPr txBox="1"/>
          <p:nvPr/>
        </p:nvSpPr>
        <p:spPr>
          <a:xfrm>
            <a:off x="6675120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: N</a:t>
            </a:r>
            <a:endParaRPr lang="en-US" sz="1800" dirty="0"/>
          </a:p>
        </p:txBody>
      </p:sp>
      <p:sp>
        <p:nvSpPr>
          <p:cNvPr id="7" name="ER point text 1"/>
          <p:cNvSpPr txBox="1"/>
          <p:nvPr/>
        </p:nvSpPr>
        <p:spPr>
          <a:xfrm>
            <a:off x="6675120" y="158191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One account performs many transactions</a:t>
            </a:r>
            <a:endParaRPr lang="en-US" sz="1200" dirty="0"/>
          </a:p>
        </p:txBody>
      </p:sp>
      <p:sp>
        <p:nvSpPr>
          <p:cNvPr id="8" name="ER point 2"/>
          <p:cNvSpPr/>
          <p:nvPr/>
        </p:nvSpPr>
        <p:spPr>
          <a:xfrm>
            <a:off x="6492240" y="237744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R point title 2"/>
          <p:cNvSpPr txBox="1"/>
          <p:nvPr/>
        </p:nvSpPr>
        <p:spPr>
          <a:xfrm>
            <a:off x="6675120" y="24688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</a:t>
            </a:r>
            <a:endParaRPr lang="en-US" sz="1800" dirty="0"/>
          </a:p>
        </p:txBody>
      </p:sp>
      <p:sp>
        <p:nvSpPr>
          <p:cNvPr id="10" name="ER point text 2"/>
          <p:cNvSpPr txBox="1"/>
          <p:nvPr/>
        </p:nvSpPr>
        <p:spPr>
          <a:xfrm>
            <a:off x="6675120" y="281635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Underlined blue ovals are primary keys</a:t>
            </a:r>
            <a:endParaRPr lang="en-US" sz="1200" dirty="0"/>
          </a:p>
        </p:txBody>
      </p:sp>
      <p:sp>
        <p:nvSpPr>
          <p:cNvPr id="11" name="ER point 3"/>
          <p:cNvSpPr/>
          <p:nvPr/>
        </p:nvSpPr>
        <p:spPr>
          <a:xfrm>
            <a:off x="6492240" y="3611880"/>
            <a:ext cx="21031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ER point title 3"/>
          <p:cNvSpPr txBox="1"/>
          <p:nvPr/>
        </p:nvSpPr>
        <p:spPr>
          <a:xfrm>
            <a:off x="6675120" y="3703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FK</a:t>
            </a:r>
            <a:endParaRPr lang="en-US" sz="1800" dirty="0"/>
          </a:p>
        </p:txBody>
      </p:sp>
      <p:sp>
        <p:nvSpPr>
          <p:cNvPr id="13" name="ER point text 3"/>
          <p:cNvSpPr txBox="1"/>
          <p:nvPr/>
        </p:nvSpPr>
        <p:spPr>
          <a:xfrm>
            <a:off x="6675120" y="40507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account_no in Transactions links back to Accounts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Relational Schema and 3NF</a:t>
            </a:r>
            <a:endParaRPr lang="en-US" sz="3400" dirty="0"/>
          </a:p>
        </p:txBody>
      </p:sp>
      <p:sp>
        <p:nvSpPr>
          <p:cNvPr id="3" name="accounts card"/>
          <p:cNvSpPr/>
          <p:nvPr/>
        </p:nvSpPr>
        <p:spPr>
          <a:xfrm>
            <a:off x="548640" y="1188720"/>
            <a:ext cx="39319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ccounts name"/>
          <p:cNvSpPr txBox="1"/>
          <p:nvPr/>
        </p:nvSpPr>
        <p:spPr>
          <a:xfrm>
            <a:off x="77724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</a:t>
            </a:r>
            <a:endParaRPr lang="en-US" sz="1400" dirty="0"/>
          </a:p>
        </p:txBody>
      </p:sp>
      <p:sp>
        <p:nvSpPr>
          <p:cNvPr id="5" name="accounts columns"/>
          <p:cNvSpPr txBox="1"/>
          <p:nvPr/>
        </p:nvSpPr>
        <p:spPr>
          <a:xfrm>
            <a:off x="777240" y="16002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account_no      PK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       UNIQUE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          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customer_name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account_type 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balance      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    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      </a:t>
            </a:r>
            <a:endParaRPr lang="en-US" sz="1100" dirty="0"/>
          </a:p>
        </p:txBody>
      </p:sp>
      <p:sp>
        <p:nvSpPr>
          <p:cNvPr id="6" name="transactions card"/>
          <p:cNvSpPr/>
          <p:nvPr/>
        </p:nvSpPr>
        <p:spPr>
          <a:xfrm>
            <a:off x="4663440" y="1188720"/>
            <a:ext cx="393192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ransactions name"/>
          <p:cNvSpPr txBox="1"/>
          <p:nvPr/>
        </p:nvSpPr>
        <p:spPr>
          <a:xfrm>
            <a:off x="4892040" y="1280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8" name="transactions columns"/>
          <p:cNvSpPr txBox="1"/>
          <p:nvPr/>
        </p:nvSpPr>
        <p:spPr>
          <a:xfrm>
            <a:off x="4892040" y="160020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txn_id          PK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account_no      FK -&gt; accounts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txn_type     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         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related_account FK -&gt; accounts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txn_date        </a:t>
            </a:r>
            <a:endParaRPr lang="en-US" sz="1100" dirty="0"/>
          </a:p>
        </p:txBody>
      </p:sp>
      <p:sp>
        <p:nvSpPr>
          <p:cNvPr id="9" name="1NF card"/>
          <p:cNvSpPr/>
          <p:nvPr/>
        </p:nvSpPr>
        <p:spPr>
          <a:xfrm>
            <a:off x="548640" y="3383280"/>
            <a:ext cx="25603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1NF label"/>
          <p:cNvSpPr txBox="1"/>
          <p:nvPr/>
        </p:nvSpPr>
        <p:spPr>
          <a:xfrm>
            <a:off x="73152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1NF</a:t>
            </a:r>
            <a:endParaRPr lang="en-US" sz="1800" dirty="0"/>
          </a:p>
        </p:txBody>
      </p:sp>
      <p:sp>
        <p:nvSpPr>
          <p:cNvPr id="11" name="1NF text"/>
          <p:cNvSpPr txBox="1"/>
          <p:nvPr/>
        </p:nvSpPr>
        <p:spPr>
          <a:xfrm>
            <a:off x="73152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Atomic values only, no repeating groups, and every row is uniquely keyed.</a:t>
            </a:r>
            <a:endParaRPr lang="en-US" sz="1300" dirty="0"/>
          </a:p>
        </p:txBody>
      </p:sp>
      <p:sp>
        <p:nvSpPr>
          <p:cNvPr id="12" name="2NF card"/>
          <p:cNvSpPr/>
          <p:nvPr/>
        </p:nvSpPr>
        <p:spPr>
          <a:xfrm>
            <a:off x="3291840" y="3383280"/>
            <a:ext cx="25603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2NF label"/>
          <p:cNvSpPr txBox="1"/>
          <p:nvPr/>
        </p:nvSpPr>
        <p:spPr>
          <a:xfrm>
            <a:off x="347472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2NF</a:t>
            </a:r>
            <a:endParaRPr lang="en-US" sz="1800" dirty="0"/>
          </a:p>
        </p:txBody>
      </p:sp>
      <p:sp>
        <p:nvSpPr>
          <p:cNvPr id="14" name="2NF text"/>
          <p:cNvSpPr txBox="1"/>
          <p:nvPr/>
        </p:nvSpPr>
        <p:spPr>
          <a:xfrm>
            <a:off x="347472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Primary keys are single columns, so no partial dependency can exist.</a:t>
            </a:r>
            <a:endParaRPr lang="en-US" sz="1300" dirty="0"/>
          </a:p>
        </p:txBody>
      </p:sp>
      <p:sp>
        <p:nvSpPr>
          <p:cNvPr id="15" name="3NF card"/>
          <p:cNvSpPr/>
          <p:nvPr/>
        </p:nvSpPr>
        <p:spPr>
          <a:xfrm>
            <a:off x="6035040" y="3383280"/>
            <a:ext cx="25603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3NF label"/>
          <p:cNvSpPr txBox="1"/>
          <p:nvPr/>
        </p:nvSpPr>
        <p:spPr>
          <a:xfrm>
            <a:off x="621792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1800" dirty="0"/>
          </a:p>
        </p:txBody>
      </p:sp>
      <p:sp>
        <p:nvSpPr>
          <p:cNvPr id="17" name="3NF text"/>
          <p:cNvSpPr txBox="1"/>
          <p:nvPr/>
        </p:nvSpPr>
        <p:spPr>
          <a:xfrm>
            <a:off x="621792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No transitive dependency: every non-key column depends only on the key.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Database and Table Creation</a:t>
            </a:r>
            <a:endParaRPr lang="en-US" sz="3400" dirty="0"/>
          </a:p>
        </p:txBody>
      </p:sp>
      <p:sp>
        <p:nvSpPr>
          <p:cNvPr id="3" name="Accounts DDL card"/>
          <p:cNvSpPr/>
          <p:nvPr/>
        </p:nvSpPr>
        <p:spPr>
          <a:xfrm>
            <a:off x="548640" y="118872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Accounts DDL"/>
          <p:cNvSpPr txBox="1"/>
          <p:nvPr/>
        </p:nvSpPr>
        <p:spPr>
          <a:xfrm>
            <a:off x="731520" y="1298448"/>
            <a:ext cx="356616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accounts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account_no    INT AUTO_INCREMENT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      VARCHAR(30) NOT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UNIQUE,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           CHAR(4)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customer_name VARCHAR(80)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account_type  ENUM('Savings','Current'),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balance       DECIMAL(12,2) DEFAULT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CHECK (balance &gt;= 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  ENUM('Pending','Active')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DEFAULT 'Pending',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   TIMESTAMP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DEFAULT CURRENT_TIMESTAMP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5" name="Transactions DDL card"/>
          <p:cNvSpPr/>
          <p:nvPr/>
        </p:nvSpPr>
        <p:spPr>
          <a:xfrm>
            <a:off x="4663440" y="1188720"/>
            <a:ext cx="3931920" cy="2514600"/>
          </a:xfrm>
          <a:prstGeom prst="roundRect">
            <a:avLst>
              <a:gd name="adj" fmla="val 2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ransactions DDL"/>
          <p:cNvSpPr txBox="1"/>
          <p:nvPr/>
        </p:nvSpPr>
        <p:spPr>
          <a:xfrm>
            <a:off x="4846320" y="1298448"/>
            <a:ext cx="356616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transactions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txn_id     INT AUTO_INCREMENT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account_no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txn_type   ENUM('Deposit','Withdraw',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'Transfer_Out','Transfer_In'),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     DECIMAL(12,2) CHECK (amount&gt;0),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related_account INT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txn_date   TIMESTAMP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DEFAULT CURRENT_TIMESTAMP,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(account_no)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accounts(account_no),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(related_account)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accounts(account_no)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7" name="Constraint 1"/>
          <p:cNvSpPr/>
          <p:nvPr/>
        </p:nvSpPr>
        <p:spPr>
          <a:xfrm>
            <a:off x="548640" y="3886200"/>
            <a:ext cx="18745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onstraint title 1"/>
          <p:cNvSpPr txBox="1"/>
          <p:nvPr/>
        </p:nvSpPr>
        <p:spPr>
          <a:xfrm>
            <a:off x="685800" y="3959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PRIMARY KEY</a:t>
            </a:r>
            <a:endParaRPr lang="en-US" sz="1300" dirty="0"/>
          </a:p>
        </p:txBody>
      </p:sp>
      <p:sp>
        <p:nvSpPr>
          <p:cNvPr id="9" name="Constraint text 1"/>
          <p:cNvSpPr txBox="1"/>
          <p:nvPr/>
        </p:nvSpPr>
        <p:spPr>
          <a:xfrm>
            <a:off x="685800" y="4233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Unique row identity</a:t>
            </a:r>
            <a:endParaRPr lang="en-US" sz="1200" dirty="0"/>
          </a:p>
        </p:txBody>
      </p:sp>
      <p:sp>
        <p:nvSpPr>
          <p:cNvPr id="10" name="Constraint 2"/>
          <p:cNvSpPr/>
          <p:nvPr/>
        </p:nvSpPr>
        <p:spPr>
          <a:xfrm>
            <a:off x="2606040" y="3886200"/>
            <a:ext cx="18745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onstraint title 2"/>
          <p:cNvSpPr txBox="1"/>
          <p:nvPr/>
        </p:nvSpPr>
        <p:spPr>
          <a:xfrm>
            <a:off x="2743200" y="3959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FOREIGN KEY</a:t>
            </a:r>
            <a:endParaRPr lang="en-US" sz="1300" dirty="0"/>
          </a:p>
        </p:txBody>
      </p:sp>
      <p:sp>
        <p:nvSpPr>
          <p:cNvPr id="12" name="Constraint text 2"/>
          <p:cNvSpPr txBox="1"/>
          <p:nvPr/>
        </p:nvSpPr>
        <p:spPr>
          <a:xfrm>
            <a:off x="2743200" y="4233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Transactions tied to accounts</a:t>
            </a:r>
            <a:endParaRPr lang="en-US" sz="1200" dirty="0"/>
          </a:p>
        </p:txBody>
      </p:sp>
      <p:sp>
        <p:nvSpPr>
          <p:cNvPr id="13" name="Constraint 3"/>
          <p:cNvSpPr/>
          <p:nvPr/>
        </p:nvSpPr>
        <p:spPr>
          <a:xfrm>
            <a:off x="4663440" y="3886200"/>
            <a:ext cx="18745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onstraint title 3"/>
          <p:cNvSpPr txBox="1"/>
          <p:nvPr/>
        </p:nvSpPr>
        <p:spPr>
          <a:xfrm>
            <a:off x="4800600" y="3959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UNIQUE, NOT NULL</a:t>
            </a:r>
            <a:endParaRPr lang="en-US" sz="1300" dirty="0"/>
          </a:p>
        </p:txBody>
      </p:sp>
      <p:sp>
        <p:nvSpPr>
          <p:cNvPr id="15" name="Constraint text 3"/>
          <p:cNvSpPr txBox="1"/>
          <p:nvPr/>
        </p:nvSpPr>
        <p:spPr>
          <a:xfrm>
            <a:off x="4800600" y="4233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No duplicate usernames</a:t>
            </a:r>
            <a:endParaRPr lang="en-US" sz="1200" dirty="0"/>
          </a:p>
        </p:txBody>
      </p:sp>
      <p:sp>
        <p:nvSpPr>
          <p:cNvPr id="16" name="Constraint 4"/>
          <p:cNvSpPr/>
          <p:nvPr/>
        </p:nvSpPr>
        <p:spPr>
          <a:xfrm>
            <a:off x="6720840" y="3886200"/>
            <a:ext cx="187452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onstraint title 4"/>
          <p:cNvSpPr txBox="1"/>
          <p:nvPr/>
        </p:nvSpPr>
        <p:spPr>
          <a:xfrm>
            <a:off x="6858000" y="39593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CHECK, ENUM</a:t>
            </a:r>
            <a:endParaRPr lang="en-US" sz="1300" dirty="0"/>
          </a:p>
        </p:txBody>
      </p:sp>
      <p:sp>
        <p:nvSpPr>
          <p:cNvPr id="18" name="Constraint text 4"/>
          <p:cNvSpPr txBox="1"/>
          <p:nvPr/>
        </p:nvSpPr>
        <p:spPr>
          <a:xfrm>
            <a:off x="6858000" y="42336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Valid amounts and states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Insert, Join and Aggregate Queries</a:t>
            </a:r>
            <a:endParaRPr lang="en-US" sz="3400" dirty="0"/>
          </a:p>
        </p:txBody>
      </p:sp>
      <p:sp>
        <p:nvSpPr>
          <p:cNvPr id="3" name="INSERT chip"/>
          <p:cNvSpPr/>
          <p:nvPr/>
        </p:nvSpPr>
        <p:spPr>
          <a:xfrm>
            <a:off x="548640" y="118872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INSERT chip title"/>
          <p:cNvSpPr txBox="1"/>
          <p:nvPr/>
        </p:nvSpPr>
        <p:spPr>
          <a:xfrm>
            <a:off x="54864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INSERT</a:t>
            </a:r>
            <a:endParaRPr lang="en-US" sz="1600" dirty="0"/>
          </a:p>
        </p:txBody>
      </p:sp>
      <p:sp>
        <p:nvSpPr>
          <p:cNvPr id="5" name="INSERT chip caption"/>
          <p:cNvSpPr txBox="1"/>
          <p:nvPr/>
        </p:nvSpPr>
        <p:spPr>
          <a:xfrm>
            <a:off x="548640" y="17647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Create a record</a:t>
            </a:r>
            <a:endParaRPr lang="en-US" sz="1200" dirty="0"/>
          </a:p>
        </p:txBody>
      </p:sp>
      <p:sp>
        <p:nvSpPr>
          <p:cNvPr id="6" name="INSERT query card"/>
          <p:cNvSpPr/>
          <p:nvPr/>
        </p:nvSpPr>
        <p:spPr>
          <a:xfrm>
            <a:off x="2423160" y="1188720"/>
            <a:ext cx="617220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INSERT query"/>
          <p:cNvSpPr txBox="1"/>
          <p:nvPr/>
        </p:nvSpPr>
        <p:spPr>
          <a:xfrm>
            <a:off x="2606040" y="1298448"/>
            <a:ext cx="5806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accounts (username, pin, customer_name,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account_type, balance, status)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('vishnu_m','1234','Vishnu Mirapa','Savings',15000,'Active');</a:t>
            </a:r>
            <a:endParaRPr lang="en-US" sz="1000" dirty="0"/>
          </a:p>
        </p:txBody>
      </p:sp>
      <p:sp>
        <p:nvSpPr>
          <p:cNvPr id="8" name="JOIN chip"/>
          <p:cNvSpPr/>
          <p:nvPr/>
        </p:nvSpPr>
        <p:spPr>
          <a:xfrm>
            <a:off x="548640" y="237744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JOIN chip title"/>
          <p:cNvSpPr txBox="1"/>
          <p:nvPr/>
        </p:nvSpPr>
        <p:spPr>
          <a:xfrm>
            <a:off x="548640" y="2606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JOIN</a:t>
            </a:r>
            <a:endParaRPr lang="en-US" sz="1600" dirty="0"/>
          </a:p>
        </p:txBody>
      </p:sp>
      <p:sp>
        <p:nvSpPr>
          <p:cNvPr id="10" name="JOIN chip caption"/>
          <p:cNvSpPr txBox="1"/>
          <p:nvPr/>
        </p:nvSpPr>
        <p:spPr>
          <a:xfrm>
            <a:off x="548640" y="2953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Combine tables</a:t>
            </a:r>
            <a:endParaRPr lang="en-US" sz="1200" dirty="0"/>
          </a:p>
        </p:txBody>
      </p:sp>
      <p:sp>
        <p:nvSpPr>
          <p:cNvPr id="11" name="JOIN query card"/>
          <p:cNvSpPr/>
          <p:nvPr/>
        </p:nvSpPr>
        <p:spPr>
          <a:xfrm>
            <a:off x="2423160" y="2377440"/>
            <a:ext cx="617220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JOIN query"/>
          <p:cNvSpPr txBox="1"/>
          <p:nvPr/>
        </p:nvSpPr>
        <p:spPr>
          <a:xfrm>
            <a:off x="2606040" y="2487168"/>
            <a:ext cx="5806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t.txn_date, t.txn_type, t.amount, a.username AS counterparty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transactions t LEFT JOIN accounts a ON a.account_no = t.related_account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t.account_no = 3 ORDER BY t.txn_date DESC;</a:t>
            </a:r>
            <a:endParaRPr lang="en-US" sz="1000" dirty="0"/>
          </a:p>
        </p:txBody>
      </p:sp>
      <p:sp>
        <p:nvSpPr>
          <p:cNvPr id="13" name="AGGREGATE chip"/>
          <p:cNvSpPr/>
          <p:nvPr/>
        </p:nvSpPr>
        <p:spPr>
          <a:xfrm>
            <a:off x="548640" y="356616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AGGREGATE chip title"/>
          <p:cNvSpPr txBox="1"/>
          <p:nvPr/>
        </p:nvSpPr>
        <p:spPr>
          <a:xfrm>
            <a:off x="54864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AGGREGATE</a:t>
            </a:r>
            <a:endParaRPr lang="en-US" sz="1600" dirty="0"/>
          </a:p>
        </p:txBody>
      </p:sp>
      <p:sp>
        <p:nvSpPr>
          <p:cNvPr id="15" name="AGGREGATE chip caption"/>
          <p:cNvSpPr txBox="1"/>
          <p:nvPr/>
        </p:nvSpPr>
        <p:spPr>
          <a:xfrm>
            <a:off x="548640" y="41422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Summarise data</a:t>
            </a:r>
            <a:endParaRPr lang="en-US" sz="1200" dirty="0"/>
          </a:p>
        </p:txBody>
      </p:sp>
      <p:sp>
        <p:nvSpPr>
          <p:cNvPr id="16" name="AGGREGATE query card"/>
          <p:cNvSpPr/>
          <p:nvPr/>
        </p:nvSpPr>
        <p:spPr>
          <a:xfrm>
            <a:off x="2423160" y="3566160"/>
            <a:ext cx="6172200" cy="1051560"/>
          </a:xfrm>
          <a:prstGeom prst="roundRect">
            <a:avLst>
              <a:gd name="adj" fmla="val 69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AGGREGATE query"/>
          <p:cNvSpPr txBox="1"/>
          <p:nvPr/>
        </p:nvSpPr>
        <p:spPr>
          <a:xfrm>
            <a:off x="2606040" y="3675888"/>
            <a:ext cx="5806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account_type, COUNT(*) AS accounts, SUM(balance) AS total_held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accounts WHERE status = 'Active'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account_type HAVING SUM(balance) &gt; 10000;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Live UI Demo</a:t>
            </a:r>
            <a:endParaRPr lang="en-US" sz="3400" dirty="0"/>
          </a:p>
        </p:txBody>
      </p:sp>
      <p:sp>
        <p:nvSpPr>
          <p:cNvPr id="3" name="INSERT card"/>
          <p:cNvSpPr/>
          <p:nvPr/>
        </p:nvSpPr>
        <p:spPr>
          <a:xfrm>
            <a:off x="548640" y="1188720"/>
            <a:ext cx="2560320" cy="26060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SERT circle"/>
          <p:cNvSpPr/>
          <p:nvPr/>
        </p:nvSpPr>
        <p:spPr>
          <a:xfrm>
            <a:off x="731520" y="129844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NSERT icon" descr="INSE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412748"/>
            <a:ext cx="228600" cy="228600"/>
          </a:xfrm>
          <a:prstGeom prst="rect">
            <a:avLst/>
          </a:prstGeom>
        </p:spPr>
      </p:pic>
      <p:sp>
        <p:nvSpPr>
          <p:cNvPr id="6" name="INSERT heading"/>
          <p:cNvSpPr txBox="1"/>
          <p:nvPr/>
        </p:nvSpPr>
        <p:spPr>
          <a:xfrm>
            <a:off x="1325880" y="12984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</a:t>
            </a:r>
            <a:endParaRPr lang="en-US" sz="1800" dirty="0"/>
          </a:p>
        </p:txBody>
      </p:sp>
      <p:sp>
        <p:nvSpPr>
          <p:cNvPr id="7" name="INSERT ui label"/>
          <p:cNvSpPr txBox="1"/>
          <p:nvPr/>
        </p:nvSpPr>
        <p:spPr>
          <a:xfrm>
            <a:off x="731520" y="1874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UI ACTION</a:t>
            </a:r>
            <a:endParaRPr lang="en-US" sz="1000" dirty="0"/>
          </a:p>
        </p:txBody>
      </p:sp>
      <p:sp>
        <p:nvSpPr>
          <p:cNvPr id="8" name="INSERT ui text"/>
          <p:cNvSpPr txBox="1"/>
          <p:nvPr/>
        </p:nvSpPr>
        <p:spPr>
          <a:xfrm>
            <a:off x="731520" y="2075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Submit the Open Account form</a:t>
            </a:r>
            <a:endParaRPr lang="en-US" sz="1300" dirty="0"/>
          </a:p>
        </p:txBody>
      </p:sp>
      <p:sp>
        <p:nvSpPr>
          <p:cNvPr id="9" name="INSERT sql label"/>
          <p:cNvSpPr txBox="1"/>
          <p:nvPr/>
        </p:nvSpPr>
        <p:spPr>
          <a:xfrm>
            <a:off x="73152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SQL</a:t>
            </a:r>
            <a:endParaRPr lang="en-US" sz="1000" dirty="0"/>
          </a:p>
        </p:txBody>
      </p:sp>
      <p:sp>
        <p:nvSpPr>
          <p:cNvPr id="10" name="INSERT sql text"/>
          <p:cNvSpPr txBox="1"/>
          <p:nvPr/>
        </p:nvSpPr>
        <p:spPr>
          <a:xfrm>
            <a:off x="731520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accounts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(..., status) 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(..., 'Pending')</a:t>
            </a:r>
            <a:endParaRPr lang="en-US" sz="1000" dirty="0"/>
          </a:p>
        </p:txBody>
      </p:sp>
      <p:sp>
        <p:nvSpPr>
          <p:cNvPr id="11" name="INSERT result"/>
          <p:cNvSpPr txBox="1"/>
          <p:nvPr/>
        </p:nvSpPr>
        <p:spPr>
          <a:xfrm>
            <a:off x="7315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Result: </a:t>
            </a:r>
            <a:r>
              <a:rPr lang="en-US" sz="1200" dirty="0">
                <a:solidFill>
                  <a:schemeClr val="tx1"/>
                </a:solidFill>
              </a:rPr>
              <a:t>New row appears as Pending</a:t>
            </a:r>
            <a:endParaRPr lang="en-US" sz="1200" dirty="0"/>
          </a:p>
        </p:txBody>
      </p:sp>
      <p:sp>
        <p:nvSpPr>
          <p:cNvPr id="12" name="DELETE card"/>
          <p:cNvSpPr/>
          <p:nvPr/>
        </p:nvSpPr>
        <p:spPr>
          <a:xfrm>
            <a:off x="3291840" y="1188720"/>
            <a:ext cx="2560320" cy="26060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ELETE circle"/>
          <p:cNvSpPr/>
          <p:nvPr/>
        </p:nvSpPr>
        <p:spPr>
          <a:xfrm>
            <a:off x="3474720" y="129844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DELETE icon" descr="DELE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020" y="1412748"/>
            <a:ext cx="228600" cy="228600"/>
          </a:xfrm>
          <a:prstGeom prst="rect">
            <a:avLst/>
          </a:prstGeom>
        </p:spPr>
      </p:pic>
      <p:sp>
        <p:nvSpPr>
          <p:cNvPr id="15" name="DELETE heading"/>
          <p:cNvSpPr txBox="1"/>
          <p:nvPr/>
        </p:nvSpPr>
        <p:spPr>
          <a:xfrm>
            <a:off x="4069080" y="12984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800" dirty="0"/>
          </a:p>
        </p:txBody>
      </p:sp>
      <p:sp>
        <p:nvSpPr>
          <p:cNvPr id="16" name="DELETE ui label"/>
          <p:cNvSpPr txBox="1"/>
          <p:nvPr/>
        </p:nvSpPr>
        <p:spPr>
          <a:xfrm>
            <a:off x="3474720" y="1874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UI ACTION</a:t>
            </a:r>
            <a:endParaRPr lang="en-US" sz="1000" dirty="0"/>
          </a:p>
        </p:txBody>
      </p:sp>
      <p:sp>
        <p:nvSpPr>
          <p:cNvPr id="17" name="DELETE ui text"/>
          <p:cNvSpPr txBox="1"/>
          <p:nvPr/>
        </p:nvSpPr>
        <p:spPr>
          <a:xfrm>
            <a:off x="3474720" y="2075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Reject or close an account (admin)</a:t>
            </a:r>
            <a:endParaRPr lang="en-US" sz="1300" dirty="0"/>
          </a:p>
        </p:txBody>
      </p:sp>
      <p:sp>
        <p:nvSpPr>
          <p:cNvPr id="18" name="DELETE sql label"/>
          <p:cNvSpPr txBox="1"/>
          <p:nvPr/>
        </p:nvSpPr>
        <p:spPr>
          <a:xfrm>
            <a:off x="347472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SQL</a:t>
            </a:r>
            <a:endParaRPr lang="en-US" sz="1000" dirty="0"/>
          </a:p>
        </p:txBody>
      </p:sp>
      <p:sp>
        <p:nvSpPr>
          <p:cNvPr id="19" name="DELETE sql text"/>
          <p:cNvSpPr txBox="1"/>
          <p:nvPr/>
        </p:nvSpPr>
        <p:spPr>
          <a:xfrm>
            <a:off x="3474720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accounts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account_no = ?</a:t>
            </a:r>
            <a:endParaRPr lang="en-US" sz="1000" dirty="0"/>
          </a:p>
        </p:txBody>
      </p:sp>
      <p:sp>
        <p:nvSpPr>
          <p:cNvPr id="20" name="DELETE result"/>
          <p:cNvSpPr txBox="1"/>
          <p:nvPr/>
        </p:nvSpPr>
        <p:spPr>
          <a:xfrm>
            <a:off x="34747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Result: </a:t>
            </a:r>
            <a:r>
              <a:rPr lang="en-US" sz="1200" dirty="0">
                <a:solidFill>
                  <a:schemeClr val="tx1"/>
                </a:solidFill>
              </a:rPr>
              <a:t>Row disappears from the table</a:t>
            </a:r>
            <a:endParaRPr lang="en-US" sz="1200" dirty="0"/>
          </a:p>
        </p:txBody>
      </p:sp>
      <p:sp>
        <p:nvSpPr>
          <p:cNvPr id="21" name="VIEW card"/>
          <p:cNvSpPr/>
          <p:nvPr/>
        </p:nvSpPr>
        <p:spPr>
          <a:xfrm>
            <a:off x="6035040" y="1188720"/>
            <a:ext cx="2560320" cy="260604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VIEW circle"/>
          <p:cNvSpPr/>
          <p:nvPr/>
        </p:nvSpPr>
        <p:spPr>
          <a:xfrm>
            <a:off x="6217920" y="129844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VIEW icon" descr="VIE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220" y="1412748"/>
            <a:ext cx="228600" cy="228600"/>
          </a:xfrm>
          <a:prstGeom prst="rect">
            <a:avLst/>
          </a:prstGeom>
        </p:spPr>
      </p:pic>
      <p:sp>
        <p:nvSpPr>
          <p:cNvPr id="24" name="VIEW heading"/>
          <p:cNvSpPr txBox="1"/>
          <p:nvPr/>
        </p:nvSpPr>
        <p:spPr>
          <a:xfrm>
            <a:off x="6812280" y="12984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</a:t>
            </a:r>
            <a:endParaRPr lang="en-US" sz="1800" dirty="0"/>
          </a:p>
        </p:txBody>
      </p:sp>
      <p:sp>
        <p:nvSpPr>
          <p:cNvPr id="25" name="VIEW ui label"/>
          <p:cNvSpPr txBox="1"/>
          <p:nvPr/>
        </p:nvSpPr>
        <p:spPr>
          <a:xfrm>
            <a:off x="6217920" y="1874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UI ACTION</a:t>
            </a:r>
            <a:endParaRPr lang="en-US" sz="1000" dirty="0"/>
          </a:p>
        </p:txBody>
      </p:sp>
      <p:sp>
        <p:nvSpPr>
          <p:cNvPr id="26" name="VIEW ui text"/>
          <p:cNvSpPr txBox="1"/>
          <p:nvPr/>
        </p:nvSpPr>
        <p:spPr>
          <a:xfrm>
            <a:off x="6217920" y="2075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Open the dashboard and statement</a:t>
            </a:r>
            <a:endParaRPr lang="en-US" sz="1300" dirty="0"/>
          </a:p>
        </p:txBody>
      </p:sp>
      <p:sp>
        <p:nvSpPr>
          <p:cNvPr id="27" name="VIEW sql label"/>
          <p:cNvSpPr txBox="1"/>
          <p:nvPr/>
        </p:nvSpPr>
        <p:spPr>
          <a:xfrm>
            <a:off x="6217920" y="2560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SQL</a:t>
            </a:r>
            <a:endParaRPr lang="en-US" sz="1000" dirty="0"/>
          </a:p>
        </p:txBody>
      </p:sp>
      <p:sp>
        <p:nvSpPr>
          <p:cNvPr id="28" name="VIEW sql text"/>
          <p:cNvSpPr txBox="1"/>
          <p:nvPr/>
        </p:nvSpPr>
        <p:spPr>
          <a:xfrm>
            <a:off x="6217920" y="27614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... FROM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transactions LEFT JOIN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 ...</a:t>
            </a:r>
            <a:endParaRPr lang="en-US" sz="1000" dirty="0"/>
          </a:p>
        </p:txBody>
      </p:sp>
      <p:sp>
        <p:nvSpPr>
          <p:cNvPr id="29" name="VIEW result"/>
          <p:cNvSpPr txBox="1"/>
          <p:nvPr/>
        </p:nvSpPr>
        <p:spPr>
          <a:xfrm>
            <a:off x="621792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Result: </a:t>
            </a:r>
            <a:r>
              <a:rPr lang="en-US" sz="1200" dirty="0">
                <a:solidFill>
                  <a:schemeClr val="tx1"/>
                </a:solidFill>
              </a:rPr>
              <a:t>Screen matches table data</a:t>
            </a:r>
            <a:endParaRPr lang="en-US" sz="1200" dirty="0"/>
          </a:p>
        </p:txBody>
      </p:sp>
      <p:sp>
        <p:nvSpPr>
          <p:cNvPr id="30" name="Transfer strip"/>
          <p:cNvSpPr/>
          <p:nvPr/>
        </p:nvSpPr>
        <p:spPr>
          <a:xfrm>
            <a:off x="548640" y="3931920"/>
            <a:ext cx="804672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ransfer circle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Transfer icon" descr="Transf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" y="4183380"/>
            <a:ext cx="228600" cy="228600"/>
          </a:xfrm>
          <a:prstGeom prst="rect">
            <a:avLst/>
          </a:prstGeom>
        </p:spPr>
      </p:pic>
      <p:sp>
        <p:nvSpPr>
          <p:cNvPr id="33" name="Transfer text"/>
          <p:cNvSpPr txBox="1"/>
          <p:nvPr/>
        </p:nvSpPr>
        <p:spPr>
          <a:xfrm>
            <a:off x="1371600" y="39319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Also shown: </a:t>
            </a:r>
            <a:r>
              <a:rPr lang="en-US" sz="1300" dirty="0">
                <a:solidFill>
                  <a:schemeClr val="bg1"/>
                </a:solidFill>
              </a:rPr>
              <a:t>approve an account and send money by username. The debit, the credit and both ledger rows commit together or roll back.</a:t>
            </a:r>
            <a:endParaRPr lang="en-US" sz="13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Questions?</a:t>
            </a:r>
            <a:endParaRPr lang="en-US" sz="5400" dirty="0"/>
          </a:p>
        </p:txBody>
      </p:sp>
      <p:sp>
        <p:nvSpPr>
          <p:cNvPr id="4" name="Bank closing circle"/>
          <p:cNvSpPr/>
          <p:nvPr/>
        </p:nvSpPr>
        <p:spPr>
          <a:xfrm>
            <a:off x="7635240" y="50292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Bank closing icon" descr="Bank clos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731520"/>
            <a:ext cx="457200" cy="457200"/>
          </a:xfrm>
          <a:prstGeom prst="rect">
            <a:avLst/>
          </a:prstGeom>
        </p:spPr>
      </p:pic>
      <p:sp>
        <p:nvSpPr>
          <p:cNvPr id="6" name="Closing team"/>
          <p:cNvSpPr txBox="1"/>
          <p:nvPr/>
        </p:nvSpPr>
        <p:spPr>
          <a:xfrm>
            <a:off x="548640" y="257175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Prasanna Kollu - 25WU0101101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Pareddy Ishanth Reddy - 25WU0101093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Mitul Saraswat - 25WU0101073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Vishnu </a:t>
            </a:r>
            <a:r>
              <a:rPr lang="en-US" sz="1400" dirty="0" err="1">
                <a:solidFill>
                  <a:schemeClr val="bg1"/>
                </a:solidFill>
              </a:rPr>
              <a:t>Mirapa</a:t>
            </a:r>
            <a:r>
              <a:rPr lang="en-US" sz="1400" dirty="0">
                <a:solidFill>
                  <a:schemeClr val="bg1"/>
                </a:solidFill>
              </a:rPr>
              <a:t> - 25WU0101071</a:t>
            </a:r>
            <a:endParaRPr lang="en-US" sz="1400" dirty="0"/>
          </a:p>
        </p:txBody>
      </p:sp>
      <p:sp>
        <p:nvSpPr>
          <p:cNvPr id="7" name="Closing tag"/>
          <p:cNvSpPr txBox="1"/>
          <p:nvPr/>
        </p:nvSpPr>
        <p:spPr>
          <a:xfrm>
            <a:off x="548640" y="4572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PIVM Bank  |  Project 55  |  Group 3  |  CSE Rhinos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VM Bank">
  <a:themeElements>
    <a:clrScheme name="PIVM Bank">
      <a:dk1>
        <a:srgbClr val="0B1530"/>
      </a:dk1>
      <a:lt1>
        <a:srgbClr val="FFFFFF"/>
      </a:lt1>
      <a:dk2>
        <a:srgbClr val="16264F"/>
      </a:dk2>
      <a:lt2>
        <a:srgbClr val="F3F5FA"/>
      </a:lt2>
      <a:accent1>
        <a:srgbClr val="C9A24D"/>
      </a:accent1>
      <a:accent2>
        <a:srgbClr val="1F3A7A"/>
      </a:accent2>
      <a:accent3>
        <a:srgbClr val="14907F"/>
      </a:accent3>
      <a:accent4>
        <a:srgbClr val="E3C887"/>
      </a:accent4>
      <a:accent5>
        <a:srgbClr val="C0485A"/>
      </a:accent5>
      <a:accent6>
        <a:srgbClr val="5F6F8F"/>
      </a:accent6>
      <a:hlink>
        <a:srgbClr val="1F3A7A"/>
      </a:hlink>
      <a:folHlink>
        <a:srgbClr val="5F6F8F"/>
      </a:folHlink>
    </a:clrScheme>
    <a:fontScheme name="PIVM Ba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971</Words>
  <Application>Microsoft Office PowerPoint</Application>
  <PresentationFormat>On-screen Show 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PIVM Bank</vt:lpstr>
      <vt:lpstr>Bank Account and Transaction Management System</vt:lpstr>
      <vt:lpstr>Problem Description</vt:lpstr>
      <vt:lpstr>ER Diagram</vt:lpstr>
      <vt:lpstr>Relational Schema and 3NF</vt:lpstr>
      <vt:lpstr>Database and Table Creation</vt:lpstr>
      <vt:lpstr>Insert, Join and Aggregate Queries</vt:lpstr>
      <vt:lpstr>Live UI Demo</vt:lpstr>
      <vt:lpstr>Questions?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Account and Transaction Management System</dc:title>
  <dc:subject>PptxGenJS Presentation</dc:subject>
  <dc:creator>Group 3 - CSE Rhinos</dc:creator>
  <cp:lastModifiedBy>Prasanna Kollu</cp:lastModifiedBy>
  <cp:revision>2</cp:revision>
  <dcterms:created xsi:type="dcterms:W3CDTF">2026-10-06T20:58:59Z</dcterms:created>
  <dcterms:modified xsi:type="dcterms:W3CDTF">2026-10-06T21:11:44Z</dcterms:modified>
</cp:coreProperties>
</file>